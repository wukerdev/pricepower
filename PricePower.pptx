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Merriweather"/>
      <p:regular r:id="rId20"/>
      <p:bold r:id="rId21"/>
      <p:italic r:id="rId22"/>
      <p:boldItalic r:id="rId23"/>
    </p:embeddedFont>
    <p:embeddedFont>
      <p:font typeface="DM Sans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C02351-D7DD-45FD-BFEB-476412CFD8DE}">
  <a:tblStyle styleId="{9DC02351-D7DD-45FD-BFEB-476412CFD8D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erriweather-regular.fntdata"/><Relationship Id="rId22" Type="http://schemas.openxmlformats.org/officeDocument/2006/relationships/font" Target="fonts/Merriweather-italic.fntdata"/><Relationship Id="rId21" Type="http://schemas.openxmlformats.org/officeDocument/2006/relationships/font" Target="fonts/Merriweather-bold.fntdata"/><Relationship Id="rId24" Type="http://schemas.openxmlformats.org/officeDocument/2006/relationships/font" Target="fonts/DMSans-regular.fntdata"/><Relationship Id="rId23" Type="http://schemas.openxmlformats.org/officeDocument/2006/relationships/font" Target="fonts/Merriweather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DMSans-italic.fntdata"/><Relationship Id="rId25" Type="http://schemas.openxmlformats.org/officeDocument/2006/relationships/font" Target="fonts/DMSans-bold.fntdata"/><Relationship Id="rId27" Type="http://schemas.openxmlformats.org/officeDocument/2006/relationships/font" Target="fonts/DMSans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1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0.png"/><Relationship Id="rId9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image" Target="../media/image7.png"/><Relationship Id="rId8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5" Type="http://schemas.openxmlformats.org/officeDocument/2006/relationships/image" Target="../media/image22.png"/><Relationship Id="rId6" Type="http://schemas.openxmlformats.org/officeDocument/2006/relationships/image" Target="../media/image13.png"/><Relationship Id="rId7" Type="http://schemas.openxmlformats.org/officeDocument/2006/relationships/image" Target="../media/image12.png"/><Relationship Id="rId8" Type="http://schemas.openxmlformats.org/officeDocument/2006/relationships/image" Target="../media/image1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430416" y="2212627"/>
            <a:ext cx="9331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Price Power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286000" y="3365152"/>
            <a:ext cx="7620000" cy="12800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Wielowymiarowa analityka siły nabywczej graczy na rynku globalnym. Projekt zaliczeniowy z przedmiotu Hurtownie Danych.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085775" y="5679275"/>
            <a:ext cx="2038500" cy="11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Autorzy:</a:t>
            </a:r>
            <a:b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Wiktor Kozakowski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Krystian Twarowski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Władysław Liegmanowski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Maciej Żelazkiewicz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Jakub Klesiński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Sebastian Mrowiński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/>
          <p:nvPr/>
        </p:nvSpPr>
        <p:spPr>
          <a:xfrm>
            <a:off x="5619750" y="2676525"/>
            <a:ext cx="952500" cy="571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465546" y="2733675"/>
            <a:ext cx="7260907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Architektura Systemu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2638425" y="3686175"/>
            <a:ext cx="69151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Implementacja modelu Star Schema i asynchronicznego procesowania danych.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0" name="Google Shape;10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719387"/>
            <a:ext cx="528637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719387"/>
            <a:ext cx="5286375" cy="229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5"/>
          <p:cNvSpPr txBox="1"/>
          <p:nvPr/>
        </p:nvSpPr>
        <p:spPr>
          <a:xfrm>
            <a:off x="962025" y="3109912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Analiza Ekonomiczna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962025" y="3519487"/>
            <a:ext cx="45053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Zautomatyzowanie procesu porównywania cen gier z realną siłą nabywczą w różnych regionach geograficznych.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6724650" y="3109912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Wizualizacja OLAP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6724650" y="3519487"/>
            <a:ext cx="45053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Zapewnienie interaktywnych przekrojów (Slice &amp; Dice) danych przy użyciu nowoczesnych dashboardów menedżerskich.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Cele Projektu</a:t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19621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6"/>
          <p:cNvSpPr txBox="1"/>
          <p:nvPr/>
        </p:nvSpPr>
        <p:spPr>
          <a:xfrm>
            <a:off x="571500" y="2876550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System wykorzystuje schemat gwiazdy (Star Schema), aby zapewnić najwyższą wydajność zapytań analitycznych:</a:t>
            </a:r>
            <a:endParaRPr/>
          </a:p>
        </p:txBody>
      </p:sp>
      <p:pic>
        <p:nvPicPr>
          <p:cNvPr descr="image.png" id="116" name="Google Shape;11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9621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6"/>
          <p:cNvSpPr txBox="1"/>
          <p:nvPr/>
        </p:nvSpPr>
        <p:spPr>
          <a:xfrm>
            <a:off x="885825" y="36766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952500" y="3676650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Fact_Economy: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Przechowuje miary cen i płac.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885825" y="39814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952500" y="3981450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Dim_Game: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Dane o tytułach, gatunkach i popularności.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885825" y="42862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952500" y="4286250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Dim_Region: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Wymiar geograficzny (kraje, waluty).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885825" y="45910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952500" y="4591050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Dim_Time: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Szeregi czasowe trendów 2019-2024.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Model Hurtowni Danych</a:t>
            </a:r>
            <a:endParaRPr/>
          </a:p>
        </p:txBody>
      </p:sp>
      <p:sp>
        <p:nvSpPr>
          <p:cNvPr id="126" name="Google Shape;126;p16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1" name="Google Shape;13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/>
          <p:nvPr/>
        </p:nvSpPr>
        <p:spPr>
          <a:xfrm>
            <a:off x="571500" y="2209800"/>
            <a:ext cx="11049000" cy="33147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3" name="Google Shape;133;p17"/>
          <p:cNvGraphicFramePr/>
          <p:nvPr/>
        </p:nvGraphicFramePr>
        <p:xfrm>
          <a:off x="571500" y="22098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{9DC02351-D7DD-45FD-BFEB-476412CFD8DE}</a:tableStyleId>
              </a:tblPr>
              <a:tblGrid>
                <a:gridCol w="2411900"/>
                <a:gridCol w="4608175"/>
                <a:gridCol w="4028925"/>
              </a:tblGrid>
              <a:tr h="662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Wymiar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Atrybuty Kluczowe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Źródło Danych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088"/>
                    </a:solidFill>
                  </a:tcPr>
                </a:tc>
              </a:tr>
              <a:tr h="662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Dim_Game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AppID, Tytuł, Gatunek, Metacritic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Steam API / SteamSpy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62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Dim_Region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ISO Code, Nazwa Kraju, Waluta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Google Sheets ETL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62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Dim_Time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Rok, Kwartał, Timestamp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System Time / Historical API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62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Fact_Economy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Cena, Płaca (Min/Avg), Ilość Kopii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GG.Deals / Financial Stats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34" name="Google Shape;134;p17"/>
          <p:cNvSpPr/>
          <p:nvPr/>
        </p:nvSpPr>
        <p:spPr>
          <a:xfrm>
            <a:off x="571500" y="3538537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2983408" y="3538537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7591573" y="3538537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571500" y="4195762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2983408" y="4195762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7591573" y="4195762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571500" y="4852987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2983408" y="4852987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7591573" y="4852987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571500" y="5510212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2983408" y="5510212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7591573" y="5510212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Definicja Wymiarów</a:t>
            </a: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2" name="Google Shape;15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252662"/>
            <a:ext cx="3492549" cy="3228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252662"/>
            <a:ext cx="3492549" cy="3228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252662"/>
            <a:ext cx="3492549" cy="32289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794225" y="3367087"/>
            <a:ext cx="3047099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Slice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866775" y="37766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Możliwość filtrowania całej kostki danych po konkretnym tytule gry (np. "Cyberpunk 2077").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4572524" y="3367087"/>
            <a:ext cx="3047099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Dice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4645074" y="37766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Wycinanie podkostki danych dla porównania wybranych par krajów (np. Polska vs Niemcy).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8350824" y="3367087"/>
            <a:ext cx="3047099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Drill-Down</a:t>
            </a:r>
            <a:endParaRPr/>
          </a:p>
        </p:txBody>
      </p:sp>
      <p:sp>
        <p:nvSpPr>
          <p:cNvPr id="161" name="Google Shape;161;p18"/>
          <p:cNvSpPr txBox="1"/>
          <p:nvPr/>
        </p:nvSpPr>
        <p:spPr>
          <a:xfrm>
            <a:off x="8423374" y="3776662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Przejście od ogólnego indeksu koszyka do szczegółowych danych historycznych i budżetowych.</a:t>
            </a:r>
            <a:endParaRPr/>
          </a:p>
        </p:txBody>
      </p:sp>
      <p:pic>
        <p:nvPicPr>
          <p:cNvPr descr="image.png" id="162" name="Google Shape;162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051000" y="2605087"/>
            <a:ext cx="5334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3" name="Google Shape;163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57875" y="260508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636174" y="260508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8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Funkcjonalności OLAP</a:t>
            </a:r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1" name="Google Shape;17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024038"/>
            <a:ext cx="5286375" cy="168622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9"/>
          <p:cNvSpPr txBox="1"/>
          <p:nvPr/>
        </p:nvSpPr>
        <p:spPr>
          <a:xfrm>
            <a:off x="6334125" y="2557462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Interpretacja Miary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6334125" y="2967037"/>
            <a:ext cx="5286375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Głównym wskaźnikiem efektywności (KPI) systemu jest liczba standardowych kopii gry możliwych do nabycia za miesięczne wynagrodzenie netto (W) przy danej cenie regionalnej (P).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6334125" y="4376737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Pozwala to na obiektywne porównanie rynków o skrajnie różnych poziomach cen i dochodów.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971550" y="3424088"/>
            <a:ext cx="44862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Wzór na Ilość Kopii:</a:t>
            </a:r>
            <a:endParaRPr/>
          </a:p>
        </p:txBody>
      </p:sp>
      <p:pic>
        <p:nvPicPr>
          <p:cNvPr descr="image.png" id="177" name="Google Shape;177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43633" y="3814613"/>
            <a:ext cx="1142107" cy="495597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9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Kluczowa Miara: Siła Nabywcza</a:t>
            </a:r>
            <a:endParaRPr/>
          </a:p>
        </p:txBody>
      </p:sp>
      <p:sp>
        <p:nvSpPr>
          <p:cNvPr id="179" name="Google Shape;179;p19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4" name="Google Shape;18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447800"/>
            <a:ext cx="11049000" cy="48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0"/>
          <p:cNvSpPr txBox="1"/>
          <p:nvPr/>
        </p:nvSpPr>
        <p:spPr>
          <a:xfrm>
            <a:off x="571500" y="4905375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Wykres przedstawia "Time-to-Game" – liczbę godzin pracy potrzebną na zakup gry AAA.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Benchmarking Globalny</a:t>
            </a:r>
            <a:endParaRPr/>
          </a:p>
        </p:txBody>
      </p:sp>
      <p:sp>
        <p:nvSpPr>
          <p:cNvPr id="188" name="Google Shape;188;p20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3" name="Google Shape;19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1"/>
          <p:cNvSpPr txBox="1"/>
          <p:nvPr/>
        </p:nvSpPr>
        <p:spPr>
          <a:xfrm>
            <a:off x="571500" y="5229225"/>
            <a:ext cx="1104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Analiza Time-Series wykazuje drastyczne zmiany w sile nabywczej na rynkach rozwijających się w okresie 2022-2023 (inflacja i zmiany polityki Steam).</a:t>
            </a:r>
            <a:endParaRPr/>
          </a:p>
        </p:txBody>
      </p:sp>
      <p:pic>
        <p:nvPicPr>
          <p:cNvPr descr="image.png" id="195" name="Google Shape;19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704975"/>
            <a:ext cx="1104900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1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Trendy Historyczne 2019-2024</a:t>
            </a:r>
            <a:endParaRPr/>
          </a:p>
        </p:txBody>
      </p:sp>
      <p:sp>
        <p:nvSpPr>
          <p:cNvPr id="197" name="Google Shape;197;p21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2" name="Google Shape;20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447800"/>
            <a:ext cx="11049000" cy="48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2"/>
          <p:cNvSpPr txBox="1"/>
          <p:nvPr/>
        </p:nvSpPr>
        <p:spPr>
          <a:xfrm>
            <a:off x="571500" y="542925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Symulacja wpływu zakupu gry AAA na miesięczny budżet domowy w regionie PL.</a:t>
            </a:r>
            <a:endParaRPr/>
          </a:p>
        </p:txBody>
      </p:sp>
      <p:sp>
        <p:nvSpPr>
          <p:cNvPr id="205" name="Google Shape;205;p22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Struktura Kosztów Życia</a:t>
            </a:r>
            <a:endParaRPr/>
          </a:p>
        </p:txBody>
      </p:sp>
      <p:sp>
        <p:nvSpPr>
          <p:cNvPr id="206" name="Google Shape;206;p22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1" name="Google Shape;21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3"/>
          <p:cNvSpPr txBox="1"/>
          <p:nvPr/>
        </p:nvSpPr>
        <p:spPr>
          <a:xfrm>
            <a:off x="762000" y="571500"/>
            <a:ext cx="50006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Stack Technologiczny</a:t>
            </a:r>
            <a:endParaRPr/>
          </a:p>
        </p:txBody>
      </p:sp>
      <p:sp>
        <p:nvSpPr>
          <p:cNvPr id="213" name="Google Shape;213;p23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3"/>
          <p:cNvSpPr txBox="1"/>
          <p:nvPr/>
        </p:nvSpPr>
        <p:spPr>
          <a:xfrm>
            <a:off x="1047750" y="1447800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Backend: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FastAPI (Python) - asynchroniczny silnik ETL.</a:t>
            </a:r>
            <a:endParaRPr/>
          </a:p>
        </p:txBody>
      </p:sp>
      <p:sp>
        <p:nvSpPr>
          <p:cNvPr id="215" name="Google Shape;215;p23"/>
          <p:cNvSpPr txBox="1"/>
          <p:nvPr/>
        </p:nvSpPr>
        <p:spPr>
          <a:xfrm>
            <a:off x="1047750" y="2295525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Baza Danych: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MongoDB - dokumentowa składnica faktów analitycznych.</a:t>
            </a:r>
            <a:endParaRPr/>
          </a:p>
        </p:txBody>
      </p:sp>
      <p:sp>
        <p:nvSpPr>
          <p:cNvPr id="216" name="Google Shape;216;p23"/>
          <p:cNvSpPr txBox="1"/>
          <p:nvPr/>
        </p:nvSpPr>
        <p:spPr>
          <a:xfrm>
            <a:off x="1047750" y="3143250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Frontend: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Vue 3 &amp; Vuetify - nowoczesny interfejs analityczny.</a:t>
            </a:r>
            <a:endParaRPr/>
          </a:p>
        </p:txBody>
      </p:sp>
      <p:sp>
        <p:nvSpPr>
          <p:cNvPr id="217" name="Google Shape;217;p23"/>
          <p:cNvSpPr txBox="1"/>
          <p:nvPr/>
        </p:nvSpPr>
        <p:spPr>
          <a:xfrm>
            <a:off x="1047750" y="3990975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Wizualizacja: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Chart.js - silnik renderujący kostki OLAP.</a:t>
            </a:r>
            <a:endParaRPr/>
          </a:p>
        </p:txBody>
      </p:sp>
      <p:pic>
        <p:nvPicPr>
          <p:cNvPr descr="image.png" id="218" name="Google Shape;218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485900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9" name="Google Shape;219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33362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0" name="Google Shape;220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181350"/>
            <a:ext cx="1714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1" name="Google Shape;221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029075"/>
            <a:ext cx="2571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2" name="Google Shape;222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7" name="Google Shape;22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4"/>
          <p:cNvSpPr/>
          <p:nvPr/>
        </p:nvSpPr>
        <p:spPr>
          <a:xfrm>
            <a:off x="5619750" y="2327969"/>
            <a:ext cx="952500" cy="571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4"/>
          <p:cNvSpPr txBox="1"/>
          <p:nvPr/>
        </p:nvSpPr>
        <p:spPr>
          <a:xfrm>
            <a:off x="2665571" y="2385119"/>
            <a:ext cx="6860857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Dziękujemy za uwagę</a:t>
            </a:r>
            <a:endParaRPr/>
          </a:p>
        </p:txBody>
      </p:sp>
      <p:sp>
        <p:nvSpPr>
          <p:cNvPr id="230" name="Google Shape;230;p24"/>
          <p:cNvSpPr txBox="1"/>
          <p:nvPr/>
        </p:nvSpPr>
        <p:spPr>
          <a:xfrm>
            <a:off x="2828925" y="3337619"/>
            <a:ext cx="653415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Czy są jakieś pytania?</a:t>
            </a:r>
            <a:endParaRPr/>
          </a:p>
        </p:txBody>
      </p:sp>
      <p:sp>
        <p:nvSpPr>
          <p:cNvPr id="231" name="Google Shape;231;p24"/>
          <p:cNvSpPr txBox="1"/>
          <p:nvPr/>
        </p:nvSpPr>
        <p:spPr>
          <a:xfrm>
            <a:off x="2828925" y="4301430"/>
            <a:ext cx="65341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Power Purchasing OLAP Project | Data Warehouse Course 2024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0DF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6" name="Google Shape;23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5"/>
          <p:cNvSpPr/>
          <p:nvPr/>
        </p:nvSpPr>
        <p:spPr>
          <a:xfrm>
            <a:off x="571500" y="2988022"/>
            <a:ext cx="11049000" cy="9828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5"/>
          <p:cNvSpPr/>
          <p:nvPr/>
        </p:nvSpPr>
        <p:spPr>
          <a:xfrm>
            <a:off x="571500" y="396135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5"/>
          <p:cNvSpPr/>
          <p:nvPr/>
        </p:nvSpPr>
        <p:spPr>
          <a:xfrm>
            <a:off x="571500" y="396135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40" name="Google Shape;240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23656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5"/>
          <p:cNvSpPr txBox="1"/>
          <p:nvPr/>
        </p:nvSpPr>
        <p:spPr>
          <a:xfrm>
            <a:off x="1666875" y="3130897"/>
            <a:ext cx="9953625" cy="396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https://img.freepik.com/premium-vector/digital-big-data-server-online-technology-network-blue-background-vector-illustration-fantastic-technology-vector-illustration-fantastic-technology_252172-1621.jpg?semt=ais_incoming&amp;w=740&amp;q=80</a:t>
            </a:r>
            <a:endParaRPr/>
          </a:p>
        </p:txBody>
      </p:sp>
      <p:sp>
        <p:nvSpPr>
          <p:cNvPr id="242" name="Google Shape;242;p25"/>
          <p:cNvSpPr txBox="1"/>
          <p:nvPr/>
        </p:nvSpPr>
        <p:spPr>
          <a:xfrm>
            <a:off x="1666875" y="3574702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www.freepik.com</a:t>
            </a:r>
            <a:endParaRPr/>
          </a:p>
        </p:txBody>
      </p:sp>
      <p:pic>
        <p:nvPicPr>
          <p:cNvPr descr="image.png" id="243" name="Google Shape;243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4120306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5"/>
          <p:cNvSpPr txBox="1"/>
          <p:nvPr/>
        </p:nvSpPr>
        <p:spPr>
          <a:xfrm>
            <a:off x="1666875" y="4113758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https://dreamhomestore.co.uk/cdn/shop/articles/aesthetics-gaming-room_da1b52bb-8310-4d65-9a3a-e16f079df329.webp?v=1750774526&amp;width=1600</a:t>
            </a:r>
            <a:endParaRPr/>
          </a:p>
        </p:txBody>
      </p:sp>
      <p:sp>
        <p:nvSpPr>
          <p:cNvPr id="245" name="Google Shape;245;p25"/>
          <p:cNvSpPr txBox="1"/>
          <p:nvPr/>
        </p:nvSpPr>
        <p:spPr>
          <a:xfrm>
            <a:off x="1666875" y="4359473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dreamhomestore.co.uk</a:t>
            </a:r>
            <a:endParaRPr/>
          </a:p>
        </p:txBody>
      </p:sp>
      <p:sp>
        <p:nvSpPr>
          <p:cNvPr id="246" name="Google Shape;246;p25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Image Sources</a:t>
            </a:r>
            <a:endParaRPr/>
          </a:p>
        </p:txBody>
      </p:sp>
      <p:sp>
        <p:nvSpPr>
          <p:cNvPr id="247" name="Google Shape;247;p25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